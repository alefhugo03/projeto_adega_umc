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6858000" cy="9144000"/>
  <p:embeddedFontLst>
    <p:embeddedFont>
      <p:font typeface="Poppins"/>
      <p:regular r:id="rId18"/>
      <p:bold r:id="rId19"/>
      <p:italic r:id="rId20"/>
      <p:boldItalic r:id="rId21"/>
    </p:embeddedFont>
    <p:embeddedFont>
      <p:font typeface="Urbanist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italic.fntdata"/><Relationship Id="rId22" Type="http://schemas.openxmlformats.org/officeDocument/2006/relationships/font" Target="fonts/Urbanist-regular.fntdata"/><Relationship Id="rId21" Type="http://schemas.openxmlformats.org/officeDocument/2006/relationships/font" Target="fonts/Poppins-boldItalic.fntdata"/><Relationship Id="rId24" Type="http://schemas.openxmlformats.org/officeDocument/2006/relationships/font" Target="fonts/Urbanist-italic.fntdata"/><Relationship Id="rId23" Type="http://schemas.openxmlformats.org/officeDocument/2006/relationships/font" Target="fonts/Urbanist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Urbanist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Poppins-bold.fntdata"/><Relationship Id="rId18" Type="http://schemas.openxmlformats.org/officeDocument/2006/relationships/font" Target="fonts/Poppins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image" Target="../media/image4.png"/><Relationship Id="rId7" Type="http://schemas.openxmlformats.org/officeDocument/2006/relationships/image" Target="../media/image6.png"/><Relationship Id="rId8" Type="http://schemas.openxmlformats.org/officeDocument/2006/relationships/image" Target="../media/image2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5.png"/><Relationship Id="rId5" Type="http://schemas.openxmlformats.org/officeDocument/2006/relationships/image" Target="../media/image11.png"/><Relationship Id="rId6" Type="http://schemas.openxmlformats.org/officeDocument/2006/relationships/image" Target="../media/image27.png"/><Relationship Id="rId7" Type="http://schemas.openxmlformats.org/officeDocument/2006/relationships/image" Target="../media/image10.png"/><Relationship Id="rId8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image" Target="../media/image2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image" Target="../media/image2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21.png"/><Relationship Id="rId9" Type="http://schemas.openxmlformats.org/officeDocument/2006/relationships/image" Target="../media/image22.png"/><Relationship Id="rId5" Type="http://schemas.openxmlformats.org/officeDocument/2006/relationships/image" Target="../media/image19.png"/><Relationship Id="rId6" Type="http://schemas.openxmlformats.org/officeDocument/2006/relationships/image" Target="../media/image13.png"/><Relationship Id="rId7" Type="http://schemas.openxmlformats.org/officeDocument/2006/relationships/image" Target="../media/image6.png"/><Relationship Id="rId8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12.png"/><Relationship Id="rId5" Type="http://schemas.openxmlformats.org/officeDocument/2006/relationships/image" Target="../media/image15.png"/><Relationship Id="rId6" Type="http://schemas.openxmlformats.org/officeDocument/2006/relationships/image" Target="../media/image6.png"/><Relationship Id="rId7" Type="http://schemas.openxmlformats.org/officeDocument/2006/relationships/image" Target="../media/image2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2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image" Target="../media/image17.png"/><Relationship Id="rId6" Type="http://schemas.openxmlformats.org/officeDocument/2006/relationships/image" Target="../media/image2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Relationship Id="rId4" Type="http://schemas.openxmlformats.org/officeDocument/2006/relationships/image" Target="../media/image18.png"/><Relationship Id="rId5" Type="http://schemas.openxmlformats.org/officeDocument/2006/relationships/image" Target="../media/image16.png"/><Relationship Id="rId6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Quero o fundo de uma adega moderna, onde não só venda vinha, mas também cerveja, vodkas, whisks, combos, gelo, refrigerante...." id="84" name="Google Shape;8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" y="0"/>
            <a:ext cx="12192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305276" y="1552575"/>
            <a:ext cx="11581500" cy="22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ADEGO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8250" u="none" cap="none" strike="noStrike">
                <a:solidFill>
                  <a:srgbClr val="D4AF37"/>
                </a:solidFill>
                <a:latin typeface="Poppins"/>
                <a:ea typeface="Poppins"/>
                <a:cs typeface="Poppins"/>
                <a:sym typeface="Poppins"/>
              </a:rPr>
              <a:t>SYSTEMS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81025" y="3819525"/>
            <a:ext cx="11030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Sistema de Gerenciamento e Segurança de Dados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81025" y="4791075"/>
            <a:ext cx="11030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Equipe: Alef Hugo | Arthur Caselli | Richard Armond | Vitor Santana</a:t>
            </a:r>
            <a:b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650" u="none" cap="none" strike="noStrike">
                <a:solidFill>
                  <a:srgbClr val="D4AF37"/>
                </a:solidFill>
                <a:latin typeface="Urbanist"/>
                <a:ea typeface="Urbanist"/>
                <a:cs typeface="Urbanist"/>
                <a:sym typeface="Urbanist"/>
              </a:rPr>
              <a:t>UMC - 2026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581025" y="581025"/>
            <a:ext cx="9011126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D4AF37"/>
                </a:solidFill>
                <a:latin typeface="Poppins"/>
                <a:ea typeface="Poppins"/>
                <a:cs typeface="Poppins"/>
                <a:sym typeface="Poppins"/>
              </a:rPr>
              <a:t>DESAFIOS DO PEQUENO COMÉRCIO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1158150" y="5966150"/>
            <a:ext cx="987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4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"A tecnologia não é mais luxo, é sobrevivência para pequenas empresas."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962025" y="1885950"/>
            <a:ext cx="48482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Inconsistência de Inventário: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Processos manuais geram furos de estoque e prejuízo financeiro.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962025" y="2647950"/>
            <a:ext cx="48482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Caixa Multi-Modal: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Dificuldade em conciliar pagamentos mistos (Dinheiro + PIX + Cartão).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962025" y="3409950"/>
            <a:ext cx="48482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Fragilidade Digital: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Falta de rastreabilidade e permissões de acesso genéricas.</a:t>
            </a:r>
            <a:endParaRPr/>
          </a:p>
        </p:txBody>
      </p:sp>
      <p:pic>
        <p:nvPicPr>
          <p:cNvPr descr="image.png" id="98" name="Google Shape;9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92881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269081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3452812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45800" y="1648448"/>
            <a:ext cx="5430250" cy="330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408125" y="1726851"/>
            <a:ext cx="5305599" cy="3152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7" name="Google Shape;10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733550"/>
            <a:ext cx="3549550" cy="2733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21075" y="1733550"/>
            <a:ext cx="3549699" cy="2733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1275" y="1733550"/>
            <a:ext cx="3549550" cy="2733675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581025" y="581025"/>
            <a:ext cx="7510938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D4AF37"/>
                </a:solidFill>
                <a:latin typeface="Poppins"/>
                <a:ea typeface="Poppins"/>
                <a:cs typeface="Poppins"/>
                <a:sym typeface="Poppins"/>
              </a:rPr>
              <a:t>A SOLUÇÃO ADEGO SYSTEMS</a:t>
            </a:r>
            <a:endParaRPr/>
          </a:p>
        </p:txBody>
      </p:sp>
      <p:pic>
        <p:nvPicPr>
          <p:cNvPr descr="image.png" id="112" name="Google Shape;112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76300" y="2028825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876300" y="2600325"/>
            <a:ext cx="31069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D4AF37"/>
                </a:solidFill>
                <a:latin typeface="Poppins"/>
                <a:ea typeface="Poppins"/>
                <a:cs typeface="Poppins"/>
                <a:sym typeface="Poppins"/>
              </a:rPr>
              <a:t>PDV Ágil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876300" y="3124200"/>
            <a:ext cx="2959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Interface responsiva focada em velocidade de atendimento e validação automática de dados.</a:t>
            </a:r>
            <a:endParaRPr/>
          </a:p>
        </p:txBody>
      </p:sp>
      <p:pic>
        <p:nvPicPr>
          <p:cNvPr descr="image.png" id="115" name="Google Shape;115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16350" y="202882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4616350" y="2600325"/>
            <a:ext cx="310710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D4AF37"/>
                </a:solidFill>
                <a:latin typeface="Poppins"/>
                <a:ea typeface="Poppins"/>
                <a:cs typeface="Poppins"/>
                <a:sym typeface="Poppins"/>
              </a:rPr>
              <a:t>Security First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4616350" y="3124200"/>
            <a:ext cx="2959149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Segurança implementada desde a primeira linha de código (Security by Design).</a:t>
            </a:r>
            <a:endParaRPr/>
          </a:p>
        </p:txBody>
      </p:sp>
      <p:pic>
        <p:nvPicPr>
          <p:cNvPr descr="image.png" id="118" name="Google Shape;118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56550" y="2028825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 txBox="1"/>
          <p:nvPr/>
        </p:nvSpPr>
        <p:spPr>
          <a:xfrm>
            <a:off x="8356550" y="2600325"/>
            <a:ext cx="31069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D4AF37"/>
                </a:solidFill>
                <a:latin typeface="Poppins"/>
                <a:ea typeface="Poppins"/>
                <a:cs typeface="Poppins"/>
                <a:sym typeface="Poppins"/>
              </a:rPr>
              <a:t>Business Intel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8356550" y="3124200"/>
            <a:ext cx="2959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Dashboards dinâmicos com análise de faturamento, ticket médio e performance de estoque.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5" name="Google Shape;12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42575" y="1454000"/>
            <a:ext cx="7048975" cy="4200125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/>
          <p:cNvSpPr txBox="1"/>
          <p:nvPr/>
        </p:nvSpPr>
        <p:spPr>
          <a:xfrm>
            <a:off x="581025" y="581025"/>
            <a:ext cx="76009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D4AF37"/>
                </a:solidFill>
                <a:latin typeface="Poppins"/>
                <a:ea typeface="Poppins"/>
                <a:cs typeface="Poppins"/>
                <a:sym typeface="Poppins"/>
              </a:rPr>
              <a:t>ECOSSISTEMA TECNOLÓGICO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962025" y="1885950"/>
            <a:ext cx="48482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4AF37"/>
                </a:solidFill>
                <a:latin typeface="Urbanist"/>
                <a:ea typeface="Urbanist"/>
                <a:cs typeface="Urbanist"/>
                <a:sym typeface="Urbanist"/>
              </a:rPr>
              <a:t>Back-end: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Java 21 &amp; Spring Boot 3.4.2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962025" y="2362200"/>
            <a:ext cx="48482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4AF37"/>
                </a:solidFill>
                <a:latin typeface="Urbanist"/>
                <a:ea typeface="Urbanist"/>
                <a:cs typeface="Urbanist"/>
                <a:sym typeface="Urbanist"/>
              </a:rPr>
              <a:t>Front-end: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Thymeleaf, Vanilla JS &amp; CSS3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962025" y="2838450"/>
            <a:ext cx="48482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4AF37"/>
                </a:solidFill>
                <a:latin typeface="Urbanist"/>
                <a:ea typeface="Urbanist"/>
                <a:cs typeface="Urbanist"/>
                <a:sym typeface="Urbanist"/>
              </a:rPr>
              <a:t>Banco de Dados: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MySQL &amp; JPA/Hibernate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962025" y="3314700"/>
            <a:ext cx="48482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4AF37"/>
                </a:solidFill>
                <a:latin typeface="Urbanist"/>
                <a:ea typeface="Urbanist"/>
                <a:cs typeface="Urbanist"/>
                <a:sym typeface="Urbanist"/>
              </a:rPr>
              <a:t>Segurança: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Spring Security &amp; JWT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962025" y="3790950"/>
            <a:ext cx="48482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4AF37"/>
                </a:solidFill>
                <a:latin typeface="Urbanist"/>
                <a:ea typeface="Urbanist"/>
                <a:cs typeface="Urbanist"/>
                <a:sym typeface="Urbanist"/>
              </a:rPr>
              <a:t>Visualização: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Chart.js &amp; Font Awesome</a:t>
            </a:r>
            <a:endParaRPr/>
          </a:p>
        </p:txBody>
      </p:sp>
      <p:pic>
        <p:nvPicPr>
          <p:cNvPr id="133" name="Google Shape;133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50901" y="1619400"/>
            <a:ext cx="6832326" cy="3869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8" name="Google Shape;13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733550"/>
            <a:ext cx="5229225" cy="2438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/>
        </p:nvSpPr>
        <p:spPr>
          <a:xfrm>
            <a:off x="581025" y="581025"/>
            <a:ext cx="7150893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D4AF37"/>
                </a:solidFill>
                <a:latin typeface="Poppins"/>
                <a:ea typeface="Poppins"/>
                <a:cs typeface="Poppins"/>
                <a:sym typeface="Poppins"/>
              </a:rPr>
              <a:t>ENGENHARIA DE SOFTWARE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6762750" y="1885950"/>
            <a:ext cx="48482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4AF37"/>
                </a:solidFill>
                <a:latin typeface="Urbanist"/>
                <a:ea typeface="Urbanist"/>
                <a:cs typeface="Urbanist"/>
                <a:sym typeface="Urbanist"/>
              </a:rPr>
              <a:t>Padrão MVC: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Separação clara entre controle, negócio e visão.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6762750" y="2647950"/>
            <a:ext cx="48482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4AF37"/>
                </a:solidFill>
                <a:latin typeface="Urbanist"/>
                <a:ea typeface="Urbanist"/>
                <a:cs typeface="Urbanist"/>
                <a:sym typeface="Urbanist"/>
              </a:rPr>
              <a:t>DTO Pattern: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Garante que entidades de banco não sejam expostas diretamente na rede.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6762750" y="3409950"/>
            <a:ext cx="48482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4AF37"/>
                </a:solidFill>
                <a:latin typeface="Urbanist"/>
                <a:ea typeface="Urbanist"/>
                <a:cs typeface="Urbanist"/>
                <a:sym typeface="Urbanist"/>
              </a:rPr>
              <a:t>Clean Code: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Nomes semânticos e métodos de responsabilidade única.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8" name="Google Shape;14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733550"/>
            <a:ext cx="5430250" cy="3629125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8"/>
          <p:cNvSpPr txBox="1"/>
          <p:nvPr/>
        </p:nvSpPr>
        <p:spPr>
          <a:xfrm>
            <a:off x="581025" y="581025"/>
            <a:ext cx="808101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D4AF37"/>
                </a:solidFill>
                <a:latin typeface="Poppins"/>
                <a:ea typeface="Poppins"/>
                <a:cs typeface="Poppins"/>
                <a:sym typeface="Poppins"/>
              </a:rPr>
              <a:t>SEGURANÇA I: AUTH STATELESS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962025" y="1885950"/>
            <a:ext cx="48482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4AF37"/>
                </a:solidFill>
                <a:latin typeface="Urbanist"/>
                <a:ea typeface="Urbanist"/>
                <a:cs typeface="Urbanist"/>
                <a:sym typeface="Urbanist"/>
              </a:rPr>
              <a:t>JSON Web Token: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Autenticação moderna via "crachá digital" assinado.</a:t>
            </a:r>
            <a:endParaRPr/>
          </a:p>
        </p:txBody>
      </p:sp>
      <p:sp>
        <p:nvSpPr>
          <p:cNvPr id="152" name="Google Shape;152;p18"/>
          <p:cNvSpPr txBox="1"/>
          <p:nvPr/>
        </p:nvSpPr>
        <p:spPr>
          <a:xfrm>
            <a:off x="962025" y="2647950"/>
            <a:ext cx="48482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4AF37"/>
                </a:solidFill>
                <a:latin typeface="Urbanist"/>
                <a:ea typeface="Urbanist"/>
                <a:cs typeface="Urbanist"/>
                <a:sym typeface="Urbanist"/>
              </a:rPr>
              <a:t>Stateless Architecture: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Zero armazenamento de sessão no servidor.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962025" y="3409950"/>
            <a:ext cx="484822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4AF37"/>
                </a:solidFill>
                <a:latin typeface="Urbanist"/>
                <a:ea typeface="Urbanist"/>
                <a:cs typeface="Urbanist"/>
                <a:sym typeface="Urbanist"/>
              </a:rPr>
              <a:t>Filter Chain: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O </a:t>
            </a:r>
            <a:r>
              <a:rPr b="0" i="0" lang="en-US" sz="1500" u="none" cap="none" strike="noStrike">
                <a:solidFill>
                  <a:srgbClr val="D4AF37"/>
                </a:solidFill>
                <a:latin typeface="Urbanist"/>
                <a:ea typeface="Urbanist"/>
                <a:cs typeface="Urbanist"/>
                <a:sym typeface="Urbanist"/>
              </a:rPr>
              <a:t>SecurityFilter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intercepta e valida cada requisição antes do processamento.</a:t>
            </a:r>
            <a:endParaRPr/>
          </a:p>
        </p:txBody>
      </p:sp>
      <p:pic>
        <p:nvPicPr>
          <p:cNvPr id="154" name="Google Shape;154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91788" y="1811388"/>
            <a:ext cx="5210173" cy="3473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9" name="Google Shape;15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733550"/>
            <a:ext cx="3549550" cy="2162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21075" y="1733550"/>
            <a:ext cx="3549699" cy="2162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1275" y="1733550"/>
            <a:ext cx="3549550" cy="2162175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/>
        </p:nvSpPr>
        <p:spPr>
          <a:xfrm>
            <a:off x="581025" y="581025"/>
            <a:ext cx="7770971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D4AF37"/>
                </a:solidFill>
                <a:latin typeface="Poppins"/>
                <a:ea typeface="Poppins"/>
                <a:cs typeface="Poppins"/>
                <a:sym typeface="Poppins"/>
              </a:rPr>
              <a:t>SEGURANÇA II: DADOS E RBAC</a:t>
            </a:r>
            <a:endParaRPr/>
          </a:p>
        </p:txBody>
      </p:sp>
      <p:sp>
        <p:nvSpPr>
          <p:cNvPr id="164" name="Google Shape;164;p19"/>
          <p:cNvSpPr txBox="1"/>
          <p:nvPr/>
        </p:nvSpPr>
        <p:spPr>
          <a:xfrm>
            <a:off x="876300" y="2028825"/>
            <a:ext cx="31069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D4AF37"/>
                </a:solidFill>
                <a:latin typeface="Poppins"/>
                <a:ea typeface="Poppins"/>
                <a:cs typeface="Poppins"/>
                <a:sym typeface="Poppins"/>
              </a:rPr>
              <a:t>BCrypt Hashing</a:t>
            </a:r>
            <a:endParaRPr/>
          </a:p>
        </p:txBody>
      </p:sp>
      <p:sp>
        <p:nvSpPr>
          <p:cNvPr id="165" name="Google Shape;165;p19"/>
          <p:cNvSpPr txBox="1"/>
          <p:nvPr/>
        </p:nvSpPr>
        <p:spPr>
          <a:xfrm>
            <a:off x="876300" y="2552700"/>
            <a:ext cx="2959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Senhas criptografadas com algoritmos unidirecionais. Proteção contra vazamento de DB.</a:t>
            </a:r>
            <a:endParaRPr/>
          </a:p>
        </p:txBody>
      </p:sp>
      <p:sp>
        <p:nvSpPr>
          <p:cNvPr id="166" name="Google Shape;166;p19"/>
          <p:cNvSpPr txBox="1"/>
          <p:nvPr/>
        </p:nvSpPr>
        <p:spPr>
          <a:xfrm>
            <a:off x="4616350" y="2028825"/>
            <a:ext cx="310710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D4AF37"/>
                </a:solidFill>
                <a:latin typeface="Poppins"/>
                <a:ea typeface="Poppins"/>
                <a:cs typeface="Poppins"/>
                <a:sym typeface="Poppins"/>
              </a:rPr>
              <a:t>RBAC</a:t>
            </a:r>
            <a:endParaRPr/>
          </a:p>
        </p:txBody>
      </p:sp>
      <p:sp>
        <p:nvSpPr>
          <p:cNvPr id="167" name="Google Shape;167;p19"/>
          <p:cNvSpPr txBox="1"/>
          <p:nvPr/>
        </p:nvSpPr>
        <p:spPr>
          <a:xfrm>
            <a:off x="4616350" y="2552700"/>
            <a:ext cx="2959149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Controle de Acesso Baseado em Perfis. Admin vs. Vendedor em níveis de API e Interface.</a:t>
            </a:r>
            <a:endParaRPr/>
          </a:p>
        </p:txBody>
      </p:sp>
      <p:sp>
        <p:nvSpPr>
          <p:cNvPr id="168" name="Google Shape;168;p19"/>
          <p:cNvSpPr txBox="1"/>
          <p:nvPr/>
        </p:nvSpPr>
        <p:spPr>
          <a:xfrm>
            <a:off x="8356550" y="2028825"/>
            <a:ext cx="31069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D4AF37"/>
                </a:solidFill>
                <a:latin typeface="Poppins"/>
                <a:ea typeface="Poppins"/>
                <a:cs typeface="Poppins"/>
                <a:sym typeface="Poppins"/>
              </a:rPr>
              <a:t>@PreAuthorize</a:t>
            </a:r>
            <a:endParaRPr/>
          </a:p>
        </p:txBody>
      </p:sp>
      <p:sp>
        <p:nvSpPr>
          <p:cNvPr id="169" name="Google Shape;169;p19"/>
          <p:cNvSpPr txBox="1"/>
          <p:nvPr/>
        </p:nvSpPr>
        <p:spPr>
          <a:xfrm>
            <a:off x="8356550" y="2552700"/>
            <a:ext cx="2959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Anotações no nível de método que barram o acesso de vendedores a funções críticas.</a:t>
            </a:r>
            <a:endParaRPr/>
          </a:p>
        </p:txBody>
      </p:sp>
      <p:pic>
        <p:nvPicPr>
          <p:cNvPr descr="image.png" id="170" name="Google Shape;170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190425" y="4082525"/>
            <a:ext cx="1736800" cy="2162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265902" y="4135844"/>
            <a:ext cx="1585835" cy="2055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405275" y="4082525"/>
            <a:ext cx="1736800" cy="2162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496838" y="4135850"/>
            <a:ext cx="1553675" cy="2055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8" name="Google Shape;17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0"/>
          <p:cNvSpPr txBox="1"/>
          <p:nvPr/>
        </p:nvSpPr>
        <p:spPr>
          <a:xfrm>
            <a:off x="581025" y="581025"/>
            <a:ext cx="7720965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D4AF37"/>
                </a:solidFill>
                <a:latin typeface="Poppins"/>
                <a:ea typeface="Poppins"/>
                <a:cs typeface="Poppins"/>
                <a:sym typeface="Poppins"/>
              </a:rPr>
              <a:t>SEGURANÇA III: DEFESA ATIVA</a:t>
            </a:r>
            <a:endParaRPr/>
          </a:p>
        </p:txBody>
      </p:sp>
      <p:sp>
        <p:nvSpPr>
          <p:cNvPr id="180" name="Google Shape;180;p20"/>
          <p:cNvSpPr txBox="1"/>
          <p:nvPr/>
        </p:nvSpPr>
        <p:spPr>
          <a:xfrm>
            <a:off x="962025" y="1885950"/>
            <a:ext cx="106489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4AF37"/>
                </a:solidFill>
                <a:latin typeface="Urbanist"/>
                <a:ea typeface="Urbanist"/>
                <a:cs typeface="Urbanist"/>
                <a:sym typeface="Urbanist"/>
              </a:rPr>
              <a:t>CORS Restricted: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Acesso permitido apenas de origens confiáveis, prevenindo ataques de cross-origin.</a:t>
            </a:r>
            <a:endParaRPr/>
          </a:p>
        </p:txBody>
      </p:sp>
      <p:sp>
        <p:nvSpPr>
          <p:cNvPr id="181" name="Google Shape;181;p20"/>
          <p:cNvSpPr txBox="1"/>
          <p:nvPr/>
        </p:nvSpPr>
        <p:spPr>
          <a:xfrm>
            <a:off x="962025" y="2362200"/>
            <a:ext cx="106489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4AF37"/>
                </a:solidFill>
                <a:latin typeface="Urbanist"/>
                <a:ea typeface="Urbanist"/>
                <a:cs typeface="Urbanist"/>
                <a:sym typeface="Urbanist"/>
              </a:rPr>
              <a:t>CSRF Mitigation: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Implementação de Cookies com </a:t>
            </a:r>
            <a:r>
              <a:rPr b="0" i="0" lang="en-US" sz="1500" u="none" cap="none" strike="noStrike">
                <a:solidFill>
                  <a:srgbClr val="D4AF37"/>
                </a:solidFill>
                <a:latin typeface="Urbanist"/>
                <a:ea typeface="Urbanist"/>
                <a:cs typeface="Urbanist"/>
                <a:sym typeface="Urbanist"/>
              </a:rPr>
              <a:t>SameSite=Strict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para blindagem de sessões.</a:t>
            </a:r>
            <a:endParaRPr/>
          </a:p>
        </p:txBody>
      </p:sp>
      <p:sp>
        <p:nvSpPr>
          <p:cNvPr id="182" name="Google Shape;182;p20"/>
          <p:cNvSpPr txBox="1"/>
          <p:nvPr/>
        </p:nvSpPr>
        <p:spPr>
          <a:xfrm>
            <a:off x="962025" y="2847975"/>
            <a:ext cx="106489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4AF37"/>
                </a:solidFill>
                <a:latin typeface="Urbanist"/>
                <a:ea typeface="Urbanist"/>
                <a:cs typeface="Urbanist"/>
                <a:sym typeface="Urbanist"/>
              </a:rPr>
              <a:t>Global Exception Handler: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Centralização de erros técnicos. Impede o vazamento de detalhes do servidor (Information Leakage).</a:t>
            </a:r>
            <a:endParaRPr/>
          </a:p>
        </p:txBody>
      </p:sp>
      <p:sp>
        <p:nvSpPr>
          <p:cNvPr id="183" name="Google Shape;183;p20"/>
          <p:cNvSpPr txBox="1"/>
          <p:nvPr/>
        </p:nvSpPr>
        <p:spPr>
          <a:xfrm>
            <a:off x="962025" y="3609975"/>
            <a:ext cx="106489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4AF37"/>
                </a:solidFill>
                <a:latin typeface="Urbanist"/>
                <a:ea typeface="Urbanist"/>
                <a:cs typeface="Urbanist"/>
                <a:sym typeface="Urbanist"/>
              </a:rPr>
              <a:t>Sanitização Jakarta: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Uso de </a:t>
            </a:r>
            <a:r>
              <a:rPr b="0" i="0" lang="en-US" sz="1500" u="none" cap="none" strike="noStrike">
                <a:solidFill>
                  <a:srgbClr val="D4AF37"/>
                </a:solidFill>
                <a:latin typeface="Urbanist"/>
                <a:ea typeface="Urbanist"/>
                <a:cs typeface="Urbanist"/>
                <a:sym typeface="Urbanist"/>
              </a:rPr>
              <a:t>@NotBlank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e </a:t>
            </a:r>
            <a:r>
              <a:rPr b="0" i="0" lang="en-US" sz="1500" u="none" cap="none" strike="noStrike">
                <a:solidFill>
                  <a:srgbClr val="D4AF37"/>
                </a:solidFill>
                <a:latin typeface="Urbanist"/>
                <a:ea typeface="Urbanist"/>
                <a:cs typeface="Urbanist"/>
                <a:sym typeface="Urbanist"/>
              </a:rPr>
              <a:t>@Valid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para higienizar entradas maliciosas.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8" name="Google Shape;18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45237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733550"/>
            <a:ext cx="5229225" cy="2162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733550"/>
            <a:ext cx="5229225" cy="2162175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1"/>
          <p:cNvSpPr txBox="1"/>
          <p:nvPr/>
        </p:nvSpPr>
        <p:spPr>
          <a:xfrm>
            <a:off x="581025" y="581025"/>
            <a:ext cx="7860982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D4AF37"/>
                </a:solidFill>
                <a:latin typeface="Poppins"/>
                <a:ea typeface="Poppins"/>
                <a:cs typeface="Poppins"/>
                <a:sym typeface="Poppins"/>
              </a:rPr>
              <a:t>INTEGRIDADE DE TRANSAÇÕES</a:t>
            </a:r>
            <a:endParaRPr/>
          </a:p>
        </p:txBody>
      </p:sp>
      <p:sp>
        <p:nvSpPr>
          <p:cNvPr id="192" name="Google Shape;192;p21"/>
          <p:cNvSpPr txBox="1"/>
          <p:nvPr/>
        </p:nvSpPr>
        <p:spPr>
          <a:xfrm>
            <a:off x="876300" y="2028825"/>
            <a:ext cx="4870608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D4AF37"/>
                </a:solidFill>
                <a:latin typeface="Arial"/>
                <a:ea typeface="Arial"/>
                <a:cs typeface="Arial"/>
                <a:sym typeface="Arial"/>
              </a:rPr>
              <a:t>@Transactional</a:t>
            </a:r>
            <a:endParaRPr/>
          </a:p>
        </p:txBody>
      </p:sp>
      <p:sp>
        <p:nvSpPr>
          <p:cNvPr id="193" name="Google Shape;193;p21"/>
          <p:cNvSpPr txBox="1"/>
          <p:nvPr/>
        </p:nvSpPr>
        <p:spPr>
          <a:xfrm>
            <a:off x="876300" y="2524125"/>
            <a:ext cx="463867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Garante o princípio ACID no fechamento da venda. Se o pagamento falhar, a baixa de estoque é automaticamente revertida (Rollback).</a:t>
            </a:r>
            <a:endParaRPr/>
          </a:p>
        </p:txBody>
      </p:sp>
      <p:sp>
        <p:nvSpPr>
          <p:cNvPr id="194" name="Google Shape;194;p21"/>
          <p:cNvSpPr txBox="1"/>
          <p:nvPr/>
        </p:nvSpPr>
        <p:spPr>
          <a:xfrm>
            <a:off x="6677025" y="2028825"/>
            <a:ext cx="4870608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D4AF37"/>
                </a:solidFill>
                <a:latin typeface="Poppins"/>
                <a:ea typeface="Poppins"/>
                <a:cs typeface="Poppins"/>
                <a:sym typeface="Poppins"/>
              </a:rPr>
              <a:t>Venda Maestro</a:t>
            </a:r>
            <a:endParaRPr/>
          </a:p>
        </p:txBody>
      </p:sp>
      <p:sp>
        <p:nvSpPr>
          <p:cNvPr id="195" name="Google Shape;195;p21"/>
          <p:cNvSpPr txBox="1"/>
          <p:nvPr/>
        </p:nvSpPr>
        <p:spPr>
          <a:xfrm>
            <a:off x="6677025" y="2552700"/>
            <a:ext cx="463867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O serviço de vendas orquestra simultaneamente: Criação de Venda, Baixa de Estoque e Registro de Pagamento.</a:t>
            </a:r>
            <a:endParaRPr/>
          </a:p>
        </p:txBody>
      </p:sp>
      <p:pic>
        <p:nvPicPr>
          <p:cNvPr descr="image.png" id="196" name="Google Shape;196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22300" y="4112300"/>
            <a:ext cx="3547412" cy="2162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492386" y="4175475"/>
            <a:ext cx="3207226" cy="203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2" name="Google Shape;20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733550"/>
            <a:ext cx="11029950" cy="222885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2"/>
          <p:cNvSpPr txBox="1"/>
          <p:nvPr/>
        </p:nvSpPr>
        <p:spPr>
          <a:xfrm>
            <a:off x="581025" y="581025"/>
            <a:ext cx="7220902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D4AF37"/>
                </a:solidFill>
                <a:latin typeface="Poppins"/>
                <a:ea typeface="Poppins"/>
                <a:cs typeface="Poppins"/>
                <a:sym typeface="Poppins"/>
              </a:rPr>
              <a:t>GOVERNANÇA: SOFT DELETE</a:t>
            </a:r>
            <a:endParaRPr/>
          </a:p>
        </p:txBody>
      </p:sp>
      <p:sp>
        <p:nvSpPr>
          <p:cNvPr id="205" name="Google Shape;205;p22"/>
          <p:cNvSpPr txBox="1"/>
          <p:nvPr/>
        </p:nvSpPr>
        <p:spPr>
          <a:xfrm>
            <a:off x="942975" y="2276475"/>
            <a:ext cx="103727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Princípio da Auditabilidade:</a:t>
            </a:r>
            <a:r>
              <a:rPr b="0" i="0" lang="en-US" sz="19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No Adego Systems, não deletamos dados de verdade.</a:t>
            </a:r>
            <a:endParaRPr/>
          </a:p>
        </p:txBody>
      </p:sp>
      <p:sp>
        <p:nvSpPr>
          <p:cNvPr id="206" name="Google Shape;206;p22"/>
          <p:cNvSpPr txBox="1"/>
          <p:nvPr/>
        </p:nvSpPr>
        <p:spPr>
          <a:xfrm>
            <a:off x="942975" y="2895600"/>
            <a:ext cx="1037272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Ao "excluir" um produto ou venda, alteramos a flag </a:t>
            </a:r>
            <a:r>
              <a:rPr b="0" i="0" lang="en-US" sz="1500" u="none" cap="none" strike="noStrike">
                <a:solidFill>
                  <a:srgbClr val="D4AF37"/>
                </a:solidFill>
                <a:latin typeface="Urbanist"/>
                <a:ea typeface="Urbanist"/>
                <a:cs typeface="Urbanist"/>
                <a:sym typeface="Urbanist"/>
              </a:rPr>
              <a:t>isActive = false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 O registro fica invisível para o usuário, mas preservado no banco para auditoria financeira e histórico de faturamento.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1" name="Google Shape;21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2" name="Google Shape;212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55475" y="1270500"/>
            <a:ext cx="5727899" cy="4972475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3"/>
          <p:cNvSpPr txBox="1"/>
          <p:nvPr/>
        </p:nvSpPr>
        <p:spPr>
          <a:xfrm>
            <a:off x="581025" y="581025"/>
            <a:ext cx="7770971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D4AF37"/>
                </a:solidFill>
                <a:latin typeface="Poppins"/>
                <a:ea typeface="Poppins"/>
                <a:cs typeface="Poppins"/>
                <a:sym typeface="Poppins"/>
              </a:rPr>
              <a:t>RESULTADOS E PERFORMANCE</a:t>
            </a:r>
            <a:endParaRPr/>
          </a:p>
        </p:txBody>
      </p:sp>
      <p:sp>
        <p:nvSpPr>
          <p:cNvPr id="214" name="Google Shape;214;p23"/>
          <p:cNvSpPr txBox="1"/>
          <p:nvPr/>
        </p:nvSpPr>
        <p:spPr>
          <a:xfrm>
            <a:off x="961988" y="2139150"/>
            <a:ext cx="4848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4AF37"/>
                </a:solidFill>
                <a:latin typeface="Urbanist"/>
                <a:ea typeface="Urbanist"/>
                <a:cs typeface="Urbanist"/>
                <a:sym typeface="Urbanist"/>
              </a:rPr>
              <a:t>Stress Test: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Inserção de </a:t>
            </a:r>
            <a:r>
              <a:rPr b="0" i="0" lang="en-US" sz="15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+980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registros simulados via IA.</a:t>
            </a:r>
            <a:endParaRPr/>
          </a:p>
        </p:txBody>
      </p:sp>
      <p:sp>
        <p:nvSpPr>
          <p:cNvPr id="215" name="Google Shape;215;p23"/>
          <p:cNvSpPr txBox="1"/>
          <p:nvPr/>
        </p:nvSpPr>
        <p:spPr>
          <a:xfrm>
            <a:off x="962025" y="2819400"/>
            <a:ext cx="48482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4AF37"/>
                </a:solidFill>
                <a:latin typeface="Urbanist"/>
                <a:ea typeface="Urbanist"/>
                <a:cs typeface="Urbanist"/>
                <a:sym typeface="Urbanist"/>
              </a:rPr>
              <a:t>Cálculo em Tempo Real: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API processa métricas complexas de faturamento sem latência perceptível.</a:t>
            </a:r>
            <a:endParaRPr/>
          </a:p>
        </p:txBody>
      </p:sp>
      <p:sp>
        <p:nvSpPr>
          <p:cNvPr id="216" name="Google Shape;216;p23"/>
          <p:cNvSpPr txBox="1"/>
          <p:nvPr/>
        </p:nvSpPr>
        <p:spPr>
          <a:xfrm>
            <a:off x="961988" y="3840150"/>
            <a:ext cx="48483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4AF37"/>
                </a:solidFill>
                <a:latin typeface="Urbanist"/>
                <a:ea typeface="Urbanist"/>
                <a:cs typeface="Urbanist"/>
                <a:sym typeface="Urbanist"/>
              </a:rPr>
              <a:t>UX Dashboard: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Gráficos renderizados com Chart.js oferecem clareza imediata ao gestor.</a:t>
            </a:r>
            <a:endParaRPr/>
          </a:p>
        </p:txBody>
      </p:sp>
      <p:pic>
        <p:nvPicPr>
          <p:cNvPr id="217" name="Google Shape;217;p23"/>
          <p:cNvPicPr preferRelativeResize="0"/>
          <p:nvPr/>
        </p:nvPicPr>
        <p:blipFill rotWithShape="1">
          <a:blip r:embed="rId5">
            <a:alphaModFix/>
          </a:blip>
          <a:srcRect b="0" l="3408" r="2713" t="11000"/>
          <a:stretch/>
        </p:blipFill>
        <p:spPr>
          <a:xfrm>
            <a:off x="6229825" y="1409775"/>
            <a:ext cx="5579199" cy="2430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50637" y="3897375"/>
            <a:ext cx="5537574" cy="21983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3" name="Google Shape;22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4" name="Google Shape;224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733550"/>
            <a:ext cx="3549550" cy="1876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5" name="Google Shape;225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21075" y="1733550"/>
            <a:ext cx="3549699" cy="1876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1275" y="1733550"/>
            <a:ext cx="3549550" cy="1876425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4"/>
          <p:cNvSpPr txBox="1"/>
          <p:nvPr/>
        </p:nvSpPr>
        <p:spPr>
          <a:xfrm>
            <a:off x="581025" y="581025"/>
            <a:ext cx="592074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D4AF37"/>
                </a:solidFill>
                <a:latin typeface="Poppins"/>
                <a:ea typeface="Poppins"/>
                <a:cs typeface="Poppins"/>
                <a:sym typeface="Poppins"/>
              </a:rPr>
              <a:t>CONCLUSÃO E FUTURO</a:t>
            </a:r>
            <a:endParaRPr/>
          </a:p>
        </p:txBody>
      </p:sp>
      <p:sp>
        <p:nvSpPr>
          <p:cNvPr id="228" name="Google Shape;228;p24"/>
          <p:cNvSpPr txBox="1"/>
          <p:nvPr/>
        </p:nvSpPr>
        <p:spPr>
          <a:xfrm>
            <a:off x="305276" y="4181475"/>
            <a:ext cx="1158144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D4AF37"/>
                </a:solidFill>
                <a:latin typeface="Poppins"/>
                <a:ea typeface="Poppins"/>
                <a:cs typeface="Poppins"/>
                <a:sym typeface="Poppins"/>
              </a:rPr>
              <a:t>Obrigado!</a:t>
            </a:r>
            <a:endParaRPr/>
          </a:p>
        </p:txBody>
      </p:sp>
      <p:sp>
        <p:nvSpPr>
          <p:cNvPr id="229" name="Google Shape;229;p24"/>
          <p:cNvSpPr txBox="1"/>
          <p:nvPr/>
        </p:nvSpPr>
        <p:spPr>
          <a:xfrm>
            <a:off x="581025" y="4829175"/>
            <a:ext cx="110299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Dúvidas? Equipe Adego Systems.</a:t>
            </a:r>
            <a:endParaRPr/>
          </a:p>
        </p:txBody>
      </p:sp>
      <p:sp>
        <p:nvSpPr>
          <p:cNvPr id="230" name="Google Shape;230;p24"/>
          <p:cNvSpPr txBox="1"/>
          <p:nvPr/>
        </p:nvSpPr>
        <p:spPr>
          <a:xfrm>
            <a:off x="876300" y="2028825"/>
            <a:ext cx="31069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D4AF37"/>
                </a:solidFill>
                <a:latin typeface="Poppins"/>
                <a:ea typeface="Poppins"/>
                <a:cs typeface="Poppins"/>
                <a:sym typeface="Poppins"/>
              </a:rPr>
              <a:t>Sucesso</a:t>
            </a:r>
            <a:endParaRPr/>
          </a:p>
        </p:txBody>
      </p:sp>
      <p:sp>
        <p:nvSpPr>
          <p:cNvPr id="231" name="Google Shape;231;p24"/>
          <p:cNvSpPr txBox="1"/>
          <p:nvPr/>
        </p:nvSpPr>
        <p:spPr>
          <a:xfrm>
            <a:off x="876300" y="2552700"/>
            <a:ext cx="2959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Sistema seguro, robusto e validado tecnicamente.</a:t>
            </a:r>
            <a:endParaRPr/>
          </a:p>
        </p:txBody>
      </p:sp>
      <p:sp>
        <p:nvSpPr>
          <p:cNvPr id="232" name="Google Shape;232;p24"/>
          <p:cNvSpPr txBox="1"/>
          <p:nvPr/>
        </p:nvSpPr>
        <p:spPr>
          <a:xfrm>
            <a:off x="4616350" y="2028825"/>
            <a:ext cx="3107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D4AF37"/>
                </a:solidFill>
                <a:latin typeface="Poppins"/>
                <a:ea typeface="Poppins"/>
                <a:cs typeface="Poppins"/>
                <a:sym typeface="Poppins"/>
              </a:rPr>
              <a:t>Mobile </a:t>
            </a:r>
            <a:r>
              <a:rPr b="1" lang="en-US" sz="1800">
                <a:solidFill>
                  <a:srgbClr val="D4AF37"/>
                </a:solidFill>
                <a:latin typeface="Poppins"/>
                <a:ea typeface="Poppins"/>
                <a:cs typeface="Poppins"/>
                <a:sym typeface="Poppins"/>
              </a:rPr>
              <a:t>(upgrade)</a:t>
            </a:r>
            <a:endParaRPr/>
          </a:p>
        </p:txBody>
      </p:sp>
      <p:sp>
        <p:nvSpPr>
          <p:cNvPr id="233" name="Google Shape;233;p24"/>
          <p:cNvSpPr txBox="1"/>
          <p:nvPr/>
        </p:nvSpPr>
        <p:spPr>
          <a:xfrm>
            <a:off x="4616350" y="2552700"/>
            <a:ext cx="2959149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Próximo passo: App mobile para gestão em tempo real.</a:t>
            </a:r>
            <a:endParaRPr/>
          </a:p>
        </p:txBody>
      </p:sp>
      <p:sp>
        <p:nvSpPr>
          <p:cNvPr id="234" name="Google Shape;234;p24"/>
          <p:cNvSpPr txBox="1"/>
          <p:nvPr/>
        </p:nvSpPr>
        <p:spPr>
          <a:xfrm>
            <a:off x="8356550" y="2028825"/>
            <a:ext cx="3107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D4AF37"/>
                </a:solidFill>
                <a:latin typeface="Poppins"/>
                <a:ea typeface="Poppins"/>
                <a:cs typeface="Poppins"/>
                <a:sym typeface="Poppins"/>
              </a:rPr>
              <a:t>Gateway pro f</a:t>
            </a:r>
            <a:r>
              <a:rPr b="1" lang="en-US" sz="1800">
                <a:solidFill>
                  <a:srgbClr val="D4AF37"/>
                </a:solidFill>
                <a:latin typeface="Poppins"/>
                <a:ea typeface="Poppins"/>
                <a:cs typeface="Poppins"/>
                <a:sym typeface="Poppins"/>
              </a:rPr>
              <a:t>uturo</a:t>
            </a:r>
            <a:endParaRPr/>
          </a:p>
        </p:txBody>
      </p:sp>
      <p:sp>
        <p:nvSpPr>
          <p:cNvPr id="235" name="Google Shape;235;p24"/>
          <p:cNvSpPr txBox="1"/>
          <p:nvPr/>
        </p:nvSpPr>
        <p:spPr>
          <a:xfrm>
            <a:off x="8356550" y="2552700"/>
            <a:ext cx="2959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Integração futura com APIs de pagamento direto.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